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37160" cy="34747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iQOO HACKATHON 2026  •  SMARTPHONE AI INNOVATION</a:t>
            </a:r>
          </a:p>
          <a:p>
            <a:pPr>
              <a:spcAft>
                <a:spcPts val="1000"/>
              </a:spcAft>
              <a:defRPr sz="4600" b="1">
                <a:solidFill>
                  <a:srgbClr val="F8F9FA"/>
                </a:solidFill>
              </a:defRPr>
            </a:pPr>
            <a:r>
              <a:t>ChainTrace AI</a:t>
            </a:r>
          </a:p>
          <a:p>
            <a:pPr>
              <a:spcAft>
                <a:spcPts val="2400"/>
              </a:spcAft>
              <a:defRPr sz="2000">
                <a:solidFill>
                  <a:srgbClr val="F97316"/>
                </a:solidFill>
              </a:defRPr>
            </a:pPr>
            <a:r>
              <a:t>On-Device Multimodal Forensic Intelligence &amp; Autonomous VASP Attribution</a:t>
            </a:r>
          </a:p>
          <a:p>
            <a:pPr>
              <a:spcAft>
                <a:spcPts val="3600"/>
              </a:spcAft>
              <a:defRPr sz="1500">
                <a:solidFill>
                  <a:srgbClr val="9CA3AF"/>
                </a:solidFill>
              </a:defRPr>
            </a:pPr>
            <a:r>
              <a:t>Turning fragmented crypto evidence into legally ready freeze packets in under 2 minutes.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GitHub: https://github.com/abhinav2007-cyber/chaintrace.ai  |  Working Prototype &amp; AI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THE CRITICAL 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Crypto Crimes Move at Blockchain Speed. Investigators Don't.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Law enforcement and anti-fraud investigators face insurmountable friction during the first 60 golden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59E0B"/>
                </a:solidFill>
              </a:defRPr>
            </a:pPr>
            <a:r>
              <a:t>01</a:t>
            </a:r>
          </a:p>
          <a:p>
            <a:pPr>
              <a:spcAft>
                <a:spcPts val="1400"/>
              </a:spcAft>
              <a:defRPr sz="1600" b="1">
                <a:solidFill>
                  <a:srgbClr val="F8F9FA"/>
                </a:solidFill>
              </a:defRPr>
            </a:pPr>
            <a:r>
              <a:t>The 'Golden Hour' Freeze Dilemma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Once victim funds are transferred, scammers bridge, hop, and cash out via centralized exchanges (VASPs) within 15-45 minutes. Traditional forensic workflows take 24-72 hours to trace, missing the freeze window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11480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97316"/>
                </a:solidFill>
              </a:defRPr>
            </a:pPr>
            <a:r>
              <a:t>02</a:t>
            </a:r>
          </a:p>
          <a:p>
            <a:pPr>
              <a:spcAft>
                <a:spcPts val="1400"/>
              </a:spcAft>
              <a:defRPr sz="1600" b="1">
                <a:solidFill>
                  <a:srgbClr val="F8F9FA"/>
                </a:solidFill>
              </a:defRPr>
            </a:pPr>
            <a:r>
              <a:t>Fragmented Multimodal Evidence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Victims submit screenshots, phone chat logs, suspicious wallet addresses, transaction hashes, and bank slips. Officers have to manually copy-paste, correlate, and verify every piece across multiple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11480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spcAft>
                <a:spcPts val="1400"/>
              </a:spcAft>
              <a:defRPr sz="1600" b="1">
                <a:solidFill>
                  <a:srgbClr val="F8F9FA"/>
                </a:solidFill>
              </a:defRPr>
            </a:pPr>
            <a:r>
              <a:t>Cloud Privacy &amp; Jurisdictional Friction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Uploading sensitive evidentiary screenshots and victim PII to public cloud LLMs violates evidence chain-of-custody and data privacy laws. On-device local processing is a non-negotiable imperative.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THE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ChainTrace AI: Autonomous Investigation at the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A full-stack, on-device intelligence platform designed to empower frontline officers.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OCR &amp; ENTITY FUSION  •  Multimodal Ingestion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Upload chat screenshots, victim complaints, raw wallet strings, and TX hashes. The engine automatically extracts and cross-correlates cryptographic 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AUTONOMOUS GRAPHING  •  Live Investigation Graph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Constructs a real-time directed graph connecting victims, scammer wallets, intermediate hops, peel chains, and target VASP deposit nodes with visual risk coloring.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VASP ATTRIBUTION ENGINE  •  Explainable Attribution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Identifies destination exchange deposit clusters (Binance, Bybit, OKX, WazirX) with confidence percentages and human-readable evidence backing.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20624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43484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COURT-READY ARTIFACTS  •  1-Click Freeze Packets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Instantly generates formal Section 91 CrPC notice letters and legal freeze requests complete with SHA-256 evidence integrity hashes and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End-to-End On-Device Forensic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Zero external cloud dependency: from local evidence capture to legal warrant packet.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05740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77440"/>
            <a:ext cx="1728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STEP 1</a:t>
            </a:r>
          </a:p>
          <a:p>
            <a:pPr>
              <a:spcAft>
                <a:spcPts val="1400"/>
              </a:spcAft>
              <a:defRPr sz="1400" b="1">
                <a:solidFill>
                  <a:srgbClr val="F8F9FA"/>
                </a:solidFill>
              </a:defRPr>
            </a:pPr>
            <a:r>
              <a:t>Evidence Ingestion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Mobile camera capture, WhatsApp chats, transaction hashes, wallet addresses.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2103120"/>
            <a:ext cx="205740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72383" y="2377440"/>
            <a:ext cx="1728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97316"/>
                </a:solidFill>
              </a:defRPr>
            </a:pPr>
            <a:r>
              <a:t>STEP 2</a:t>
            </a:r>
          </a:p>
          <a:p>
            <a:pPr>
              <a:spcAft>
                <a:spcPts val="1400"/>
              </a:spcAft>
              <a:defRPr sz="1400" b="1">
                <a:solidFill>
                  <a:srgbClr val="F8F9FA"/>
                </a:solidFill>
              </a:defRPr>
            </a:pPr>
            <a:r>
              <a:t>AI Parsing &amp; OCR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Local entity extraction, regex address validation, amount &amp; timestamp normalization.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103120"/>
            <a:ext cx="205740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8656" y="2377440"/>
            <a:ext cx="1728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Aft>
                <a:spcPts val="1400"/>
              </a:spcAft>
              <a:defRPr sz="1400" b="1">
                <a:solidFill>
                  <a:srgbClr val="F8F9FA"/>
                </a:solidFill>
              </a:defRPr>
            </a:pPr>
            <a:r>
              <a:t>Knowledge Graph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NetworkX &amp; graph correlation, multi-hop trace, risk cluster classification.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2103120"/>
            <a:ext cx="205740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2377440"/>
            <a:ext cx="1728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97316"/>
                </a:solidFill>
              </a:defRPr>
            </a:pPr>
            <a:r>
              <a:t>STEP 4</a:t>
            </a:r>
          </a:p>
          <a:p>
            <a:pPr>
              <a:spcAft>
                <a:spcPts val="1400"/>
              </a:spcAft>
              <a:defRPr sz="1400" b="1">
                <a:solidFill>
                  <a:srgbClr val="F8F9FA"/>
                </a:solidFill>
              </a:defRPr>
            </a:pPr>
            <a:r>
              <a:t>VASP Attribution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Deposit address matching, exchange cluster confidence scoring, explainable reasoning.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103120"/>
            <a:ext cx="205740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377440"/>
            <a:ext cx="172821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STEP 5</a:t>
            </a:r>
          </a:p>
          <a:p>
            <a:pPr>
              <a:spcAft>
                <a:spcPts val="1400"/>
              </a:spcAft>
              <a:defRPr sz="1400" b="1">
                <a:solidFill>
                  <a:srgbClr val="F8F9FA"/>
                </a:solidFill>
              </a:defRPr>
            </a:pPr>
            <a:r>
              <a:t>Legal Freeze Output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Automated formal statutory notices, SHA-256 audit ledger, PDF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Key Platform Features in the Working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Live at http://localhost:3000 &amp; fully functional API at http://localhost:8000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★  Interactive Multi-Hop Graph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Interactive visual graph rendering scammer nodes, intermediate hops, mixer interaction, and VASP exit wallets. Users can click nodes to inspect transaction volumes and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4028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★  Explainable 'Why?' Engine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Never a black box: every VASP attribution explains the mathematical heuristic and heuristics evidence (e.g. 94% confidence: 2 hops from scammer, 14.5 ETH deposit pattern).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★  ChainTrace Copilot (Chat)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Interactive AI assistant directly accessible in the UI. Investigators can query in plain English: 'Which exchange has the largest deposit?' or 'Draft an inquiry for Binance compliance'.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206240"/>
            <a:ext cx="5257800" cy="196596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43484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★  Instant Law Enforcement Packets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One-click generation of court-ready legal notices with case IDs, officer credentials, target wallet addresses, and formal freeze instructions.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HARDWARE SYNERGY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Why the iQOO Flagship Architecture is Essential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Harnessing Qualcomm Snapdragon NPU, Monster Performance Engine &amp; On-Device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ADVANTAGE 01</a:t>
            </a:r>
          </a:p>
          <a:p>
            <a:pPr>
              <a:spcAft>
                <a:spcPts val="1400"/>
              </a:spcAft>
              <a:defRPr sz="1600" b="1">
                <a:solidFill>
                  <a:srgbClr val="F8F9FA"/>
                </a:solidFill>
              </a:defRPr>
            </a:pPr>
            <a:r>
              <a:t>Edge NPU AI Processing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iQOO's high-efficiency Neural Processing Unit runs local OCR and entity recognition models directly on-device in milliseconds without needing internet connectivity or cloud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29000" cy="411480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97316"/>
                </a:solidFill>
              </a:defRPr>
            </a:pPr>
            <a:r>
              <a:t>ADVANTAGE 02</a:t>
            </a:r>
          </a:p>
          <a:p>
            <a:pPr>
              <a:spcAft>
                <a:spcPts val="1400"/>
              </a:spcAft>
              <a:defRPr sz="1600" b="1">
                <a:solidFill>
                  <a:srgbClr val="F8F9FA"/>
                </a:solidFill>
              </a:defRPr>
            </a:pPr>
            <a:r>
              <a:t>Air-Gapped Evidence Privacy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Crime scene screenshots and victim personal identities never leave the phone. Meets strict legal standards for digital forensics and data sovereignty.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429000" cy="411480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3774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ADVANTAGE 03</a:t>
            </a:r>
          </a:p>
          <a:p>
            <a:pPr>
              <a:spcAft>
                <a:spcPts val="1400"/>
              </a:spcAft>
              <a:defRPr sz="1600" b="1">
                <a:solidFill>
                  <a:srgbClr val="F8F9FA"/>
                </a:solidFill>
              </a:defRPr>
            </a:pPr>
            <a:r>
              <a:t>Sub-2-Minute Field Triage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Frontline cyber officers can interview victims, scan their mobile wallets, and initiate an emergency VASP freeze notice right from their iQOO smartphone in the field.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Production-Grade Modern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Built with high performance, modularity, and rapid scalability in mind.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57800" cy="123444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7627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</a:defRPr>
            </a:pPr>
            <a:r>
              <a:t>Frontend Application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Next.js 14, React, Tailwind CSS, Lucide Icons, Obsidian Ember Theme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11680"/>
            <a:ext cx="5257800" cy="123444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7627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97316"/>
                </a:solidFill>
              </a:defRPr>
            </a:pPr>
            <a:r>
              <a:t>Backend Services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FastAPI (Python 3.11), Uvicorn, RESTful architecture, Pydantic v2 schemas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5257800" cy="123444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9359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</a:defRPr>
            </a:pPr>
            <a:r>
              <a:t>Graph &amp; Heuristics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NetworkX topological trace engine, multi-hop flow calculation, clustering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29000"/>
            <a:ext cx="5257800" cy="123444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59359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97316"/>
                </a:solidFill>
              </a:defRPr>
            </a:pPr>
            <a:r>
              <a:t>On-Device &amp; AI Integration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Local multimodal parsing, explainable attribution rationale engine, copilot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5257800" cy="123444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1091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Storage &amp; Cryptography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SQLite local DB, SHA-256 evidentiary chain-of-custody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846320"/>
            <a:ext cx="5257800" cy="1234440"/>
          </a:xfrm>
          <a:prstGeom prst="roundRect">
            <a:avLst/>
          </a:prstGeom>
          <a:solidFill>
            <a:srgbClr val="141824"/>
          </a:solidFill>
          <a:ln>
            <a:solidFill>
              <a:srgbClr val="2D3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010912"/>
            <a:ext cx="4709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Security &amp; Compliance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Zero cloud data leakage, offline-first execution, automated legal notice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Why ChainTrace AI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A real, deployable tool solving a billion-dollar law enforcement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59E0B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400" b="1">
                <a:solidFill>
                  <a:srgbClr val="F8F9FA"/>
                </a:solidFill>
              </a:defRPr>
            </a:pPr>
            <a:r>
              <a:t>Working Prototype Ready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Not just slides or mockups — live frontend, backend, graph engine, and AI copilot.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400" b="1">
                <a:solidFill>
                  <a:srgbClr val="F8F9FA"/>
                </a:solidFill>
              </a:defRPr>
            </a:pPr>
            <a:r>
              <a:t>Democratizing Forensics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Turns multi-thousand-dollar desktop enterprise software into an agile smartphone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400" b="1">
                <a:solidFill>
                  <a:srgbClr val="F8F9FA"/>
                </a:solidFill>
              </a:defRPr>
            </a:pPr>
            <a:r>
              <a:t>Ready for Android / iQOO APK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Engineered to compile directly as an on-device Android application powered by ONNX/TFLite.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3931920"/>
          </a:xfrm>
          <a:prstGeom prst="roundRect">
            <a:avLst/>
          </a:prstGeom>
          <a:solidFill>
            <a:srgbClr val="1418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28600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F59E0B"/>
                </a:solidFill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400" b="1">
                <a:solidFill>
                  <a:srgbClr val="F8F9FA"/>
                </a:solidFill>
              </a:defRPr>
            </a:pPr>
            <a:r>
              <a:t>Open Source on GitHub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Fully tracked and documented repository at github.com/abhinav2007-cyber/chaintrace.ai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